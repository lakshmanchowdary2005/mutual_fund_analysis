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Lora" pitchFamily="2" charset="0"/>
      <p:regular r:id="rId14"/>
    </p:embeddedFont>
    <p:embeddedFont>
      <p:font typeface="Lor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26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74391"/>
            <a:ext cx="1506215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4" name="Text 1"/>
          <p:cNvSpPr/>
          <p:nvPr/>
        </p:nvSpPr>
        <p:spPr>
          <a:xfrm>
            <a:off x="570533" y="1711598"/>
            <a:ext cx="181458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B.TECH CAPSTONE PROJECT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2064321" y="1674391"/>
            <a:ext cx="1574974" cy="188565"/>
          </a:xfrm>
          <a:prstGeom prst="roundRect">
            <a:avLst>
              <a:gd name="adj" fmla="val 7894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38735" y="1711598"/>
            <a:ext cx="188334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INFORMATION TECHNOLOGY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96119" y="1912516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Bluestock Mutual Fund Analytics System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96119" y="2873648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Presented by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J. Lakshman Chowdary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B.Tech – Information Technology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6783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29019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Case for Data-Driven Investing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86377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Mutual funds pool money from many investors to purchase a diversified portfolio of securities, offering a practical way to participate in financial markets without requiring deep expertise in individual stock selection.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00226"/>
            <a:ext cx="2634555" cy="1696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8982" y="249324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4380" y="2896344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Are Mutual Funds?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4380" y="3164607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Pooled investment vehicles managed by professionals, offering diversification and accessibility to a broad range of investors.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2400226"/>
            <a:ext cx="2634630" cy="16964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7512" y="249324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92909" y="2896344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Importance of Analysis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92909" y="3164607"/>
            <a:ext cx="235810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Rigorous analysis is essential for evaluating fund performance, understanding risk exposure, and making informed investment decisions.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2400226"/>
            <a:ext cx="2634555" cy="16964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6115" y="249324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151513" y="2896344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Need for Analytics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151513" y="3164607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analytics transforms raw financial data into actionable insights, enabling smarter, evidence-based investment strategies.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7160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21056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From Raw Data to Investor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78415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capstone project aims to build a comprehensive analytics system that automates data processing and delivers actionable financial intelligence through interactive visualizations.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92673"/>
            <a:ext cx="2634555" cy="7143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092" y="318871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ETL Pipeline &amp; Storage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3456980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an automated ETL pipeline to clean and preprocess financial datasets, storing data efficiently in SQLite.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648" y="2506638"/>
            <a:ext cx="2634630" cy="7143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8622" y="3002682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Analytics &amp; Metrics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78622" y="3270945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 exploratory data analysis and calculate key financial metrics including Sharpe Ratio, Beta, VaR, and CVaR.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320603"/>
            <a:ext cx="2634555" cy="7143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7225" y="281664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Dashboard &amp; Insights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37225" y="3084909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an interactive Power BI dashboard to generate meaningful investor insights and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8868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95227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Eight Core Financial Datasets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52586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integrates eight structured CSV datasets covering fund metadata, performance history, investor profiles, and portfolio composition.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62311"/>
            <a:ext cx="422746" cy="4227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869" y="2062311"/>
            <a:ext cx="1343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fund_master.csv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3869" y="2330574"/>
            <a:ext cx="13439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Master list of all mutual fund schemes with metadata.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792" y="2062311"/>
            <a:ext cx="422746" cy="4227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50543" y="2062311"/>
            <a:ext cx="1343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nav_history.csv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150543" y="2330574"/>
            <a:ext cx="134391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 Asset Value history tracking fund performance over time.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65" y="2062311"/>
            <a:ext cx="422746" cy="4227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27216" y="2062311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scheme_performance.csv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227216" y="2524423"/>
            <a:ext cx="13439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Scheme-level performance metrics and returns data.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138" y="2062311"/>
            <a:ext cx="422746" cy="42274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03889" y="2062311"/>
            <a:ext cx="134399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investor_transactions.csv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303889" y="2524423"/>
            <a:ext cx="134399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Detailed records of investor buy and sell transactions.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372445"/>
            <a:ext cx="422746" cy="42274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3869" y="3372445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investor_demographics.csv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073869" y="3834557"/>
            <a:ext cx="13439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Investor profile data including age, income, and region.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2792" y="3372445"/>
            <a:ext cx="422746" cy="42274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150543" y="3372445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portfolio_holdings.csv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3150543" y="3834557"/>
            <a:ext cx="13439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Asset-level holdings within each mutual fund portfolio.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9465" y="3372445"/>
            <a:ext cx="422746" cy="42274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27216" y="3372445"/>
            <a:ext cx="1343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aum.csv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5227216" y="3640708"/>
            <a:ext cx="134391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Assets Under Management figures across funds and dates.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6138" y="3372445"/>
            <a:ext cx="422746" cy="42274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03889" y="3372445"/>
            <a:ext cx="13439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sip_inflows.csv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7303889" y="3640708"/>
            <a:ext cx="134399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Systematic Investment Plan inflow data over time.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ETL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561901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Automated Data Processing Flow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96119" y="1077367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ETL pipeline transforms raw CSV files into a structured analytics-ready database, leveraging Python, Pandas, SQLite, SQL, and Power BI at each stage.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547589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789730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SQLite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7897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Processed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7897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Cleaning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7897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7897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Raw CSV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627066"/>
            <a:ext cx="860896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stage is automated through Python scripts, ensuring reproducibility and data quality from ingestion to visualization.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2522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13593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Uncovering Patterns in Financial Data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9514"/>
            <a:ext cx="1114499" cy="6887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553295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Distribution Plot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821558"/>
            <a:ext cx="192166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Visualizing the spread and skewness of fund returns across schemes.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792" y="1709514"/>
            <a:ext cx="1114499" cy="6887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2792" y="2553295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72792" y="2821558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Identifying strong relationships among performance variables.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65" y="1709514"/>
            <a:ext cx="1114499" cy="6887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49465" y="2553295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Missing Value Analysis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49465" y="2821558"/>
            <a:ext cx="192166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Detecting and addressing gaps in the dataset for quality improvement.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138" y="1709514"/>
            <a:ext cx="1114574" cy="6888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6138" y="2553370"/>
            <a:ext cx="1921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Investment Analysis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726138" y="2821632"/>
            <a:ext cx="19217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Recognizing distinct investment patterns across investor segments.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3556546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D7F4E4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92" y="3736330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071" y="3711476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quality improved significantly after cleaning. Investment patterns were identified, and strong relationships among performance variables were confirmed.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8457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99186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Financial Risk &amp; Return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56544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computes six critical performance metrics to evaluate risk-adjusted returns, volatility, and downside risk for each fund scheme.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03437"/>
            <a:ext cx="310083" cy="310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1206" y="1903437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CAGR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1206" y="2171700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Measures the compound annual growth rate of fund investments over a specified period.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903437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4553" y="1903437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14553" y="2171700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Evaluates risk-adjusted returns by measuring excess return per unit of volatility.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16647"/>
            <a:ext cx="310083" cy="3100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206" y="2816647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Beta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61206" y="3084909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Quantifies a fund's sensitivity to market movements relative to its benchmark index.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2816647"/>
            <a:ext cx="310083" cy="3100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14553" y="2816647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Historical VaR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114553" y="3084909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Estimates the maximum potential loss over a given time horizon at a confidence level.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29856"/>
            <a:ext cx="310083" cy="31008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1206" y="3729856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Conditional VaR (CVaR)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61206" y="3998119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Assesses the expected loss in the tail beyond the VaR threshold for extreme risk.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729856"/>
            <a:ext cx="310083" cy="31008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14553" y="3729856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Rolling Sharpe Ratio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114553" y="3998119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Tracks risk-adjusted performance dynamically over a rolling time window.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836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36177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Interactive Business Intelligence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93536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Power BI dashboard delivers four interactive views with KPI cards, interactive slicers, charts, tables, and drill-down analysis capabilities for comprehensive investor intelligence.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471812"/>
            <a:ext cx="4013895" cy="714673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2595786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286404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High-level KPIs and summary metrics for decision-makers.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2471812"/>
            <a:ext cx="4013895" cy="714673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4757961" y="2595786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Fund Performance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7961" y="286404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Detailed scheme-level returns and comparative analytics.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310458"/>
            <a:ext cx="4013895" cy="714673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620092" y="3434432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Investor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0092" y="3702695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Investor demographics, behavior, and transaction patterns.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3987" y="3310458"/>
            <a:ext cx="4013895" cy="714673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7961" y="3434432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7961" y="3702695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VaR, CVaR, Beta, and Sharpe Ratio visualizations.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Advanced Analytics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496119" y="45035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Deep-Dive Investment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690711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Beyond standard metrics, the system performs six advanced analytical studies to uncover deeper investment patterns and generate fund recommendations.</a:t>
            </a:r>
            <a:endParaRPr lang="en-US" sz="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99877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8888"/>
            <a:ext cx="815176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Findings &amp;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605210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Insights, Outcomes, and 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1250231"/>
            <a:ext cx="401218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Higher Sharpe Ratio, Better Returns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486942"/>
            <a:ext cx="40121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Funds with higher Sharpe Ratios consistently generated better risk-adjusted returns for investors.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81831" y="1109290"/>
            <a:ext cx="4040758" cy="28575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4635624" y="1250231"/>
            <a:ext cx="401225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35624" y="1486942"/>
            <a:ext cx="40122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Historical VaR successfully identified higher-risk funds, enabling proactive risk management.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21337" y="1109290"/>
            <a:ext cx="4040832" cy="28575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174528"/>
            <a:ext cx="401218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SIP &amp; Cohort Insights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411239"/>
            <a:ext cx="40121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SIP continuity analysis detected irregular investors, while cohort analysis revealed meaningful investment trends.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1831" y="2033588"/>
            <a:ext cx="4040758" cy="28575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4635624" y="2174528"/>
            <a:ext cx="401225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Diversification Measurement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5624" y="2411239"/>
            <a:ext cx="40122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Sector HHI effectively measured portfolio diversification across fund schemes.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1337" y="2033588"/>
            <a:ext cx="4040832" cy="28575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6" name="Shape 14"/>
          <p:cNvSpPr/>
          <p:nvPr/>
        </p:nvSpPr>
        <p:spPr>
          <a:xfrm>
            <a:off x="415156" y="2868737"/>
            <a:ext cx="4100661" cy="1414835"/>
          </a:xfrm>
          <a:prstGeom prst="roundRect">
            <a:avLst>
              <a:gd name="adj" fmla="val 1192"/>
            </a:avLst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527521" y="2970609"/>
            <a:ext cx="387593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Achievements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7521" y="3248099"/>
            <a:ext cx="38759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Successful ETL pipeline implementation, comprehensive financial analytics, interactive Power BI dashboard, and advanced analytics delivering meaningful investment insights — demonstrating practical application of Python, SQL, and Power BI.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13908" y="2970609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3908" y="3248099"/>
            <a:ext cx="3938736" cy="99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Recommendation System</a:t>
            </a:r>
            <a:endParaRPr lang="en-US" sz="850" dirty="0"/>
          </a:p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NAV Integration &amp; Real-Time Tracking</a:t>
            </a:r>
            <a:endParaRPr lang="en-US" sz="850" dirty="0"/>
          </a:p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Streamlit Web Application</a:t>
            </a:r>
            <a:endParaRPr lang="en-US" sz="850" dirty="0"/>
          </a:p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Monte Carlo Simulation &amp; Markowitz Optimization</a:t>
            </a:r>
            <a:endParaRPr lang="en-US" sz="850" dirty="0"/>
          </a:p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Email Reports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6119" y="4426223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C2821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7519" y="4583162"/>
            <a:ext cx="86089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Thank You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Questions &amp; Discussion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872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Arial</vt:lpstr>
      <vt:lpstr>Alice</vt:lpstr>
      <vt:lpstr>Lora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 Lakshman Chowdary</cp:lastModifiedBy>
  <cp:revision>2</cp:revision>
  <dcterms:created xsi:type="dcterms:W3CDTF">2026-07-09T19:01:52Z</dcterms:created>
  <dcterms:modified xsi:type="dcterms:W3CDTF">2026-07-09T19:05:15Z</dcterms:modified>
</cp:coreProperties>
</file>